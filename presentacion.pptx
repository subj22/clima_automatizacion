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8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</c:v>
                </c:pt>
              </c:strCache>
            </c:strRef>
          </c:tx>
          <c:spPr>
            <a:solidFill>
              <a:srgbClr val="2E4A7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D1A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Tiempo (seg)</c:v>
                  </c:pt>
                  <c:pt idx="1">
                    <c:v>Ciudades</c:v>
                  </c:pt>
                  <c:pt idx="2">
                    <c:v>Errores (%)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1200</c:v>
                </c:pt>
                <c:pt idx="1">
                  <c:v>5</c:v>
                </c:pt>
                <c:pt idx="2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Automatizado</c:v>
                </c:pt>
              </c:strCache>
            </c:strRef>
          </c:tx>
          <c:spPr>
            <a:solidFill>
              <a:srgbClr val="FF7A1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D1A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Tiempo (seg)</c:v>
                  </c:pt>
                  <c:pt idx="1">
                    <c:v>Ciudades</c:v>
                  </c:pt>
                  <c:pt idx="2">
                    <c:v>Errores (%)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</c:v>
                </c:pt>
                <c:pt idx="1">
                  <c:v>8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D1A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CDF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python.org/downloads/" TargetMode="External"/><Relationship Id="rId3" Type="http://schemas.openxmlformats.org/officeDocument/2006/relationships/hyperlink" Target="http://127.0.0.1:8000" TargetMode="External"/><Relationship Id="rId4" Type="http://schemas.openxmlformats.org/officeDocument/2006/relationships/hyperlink" Target="https://myaccount.google.com/apppasswords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C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914400"/>
            <a:ext cx="2926080" cy="2926080"/>
          </a:xfrm>
          <a:prstGeom prst="ellipse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863840" y="-182880"/>
            <a:ext cx="1463040" cy="1463040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548640"/>
            <a:ext cx="2560320" cy="365760"/>
          </a:xfrm>
          <a:prstGeom prst="roundRect">
            <a:avLst>
              <a:gd name="adj" fmla="val 50000"/>
            </a:avLst>
          </a:prstGeom>
          <a:solidFill>
            <a:srgbClr val="2E4A7D"/>
          </a:solidFill>
          <a:ln w="12700">
            <a:solidFill>
              <a:srgbClr val="2E4A7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548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D29C"/>
                </a:solidFill>
              </a:rPr>
              <a:t>AUTOMATIZACIÓN · PYTHON · API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Informe automático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</a:t>
            </a:r>
            <a:pPr indent="0" marL="0">
              <a:buNone/>
            </a:pPr>
            <a:r>
              <a:rPr lang="en-US" sz="4800" b="1" i="1" dirty="0">
                <a:solidFill>
                  <a:srgbClr val="FF7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clima &amp; riego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31089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20 minutos de trabajo manual a 15 segundos pulsando un botón.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· pandas · openpyxl · smtplib · FastAPI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4297680"/>
            <a:ext cx="54864" cy="64008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Javier, David y Bruno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de Procesos · Nebrija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manual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un analista hace cada mañana antes de planificar el riego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754880" cy="3108960"/>
          </a:xfrm>
          <a:prstGeom prst="rect">
            <a:avLst/>
          </a:prstGeom>
          <a:solidFill>
            <a:srgbClr val="FFF4E6"/>
          </a:solidFill>
          <a:ln w="12700">
            <a:solidFill>
              <a:srgbClr val="FFD29C"/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mañana, 07:30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2240280"/>
            <a:ext cx="4480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Roberto, analista agrícola, revisa el tiempo para 5 zonas de cultivo. Su flujo manual: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AEMET para cada localización (5 pestañas)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Tmax, Tmin, lluvia y viento en una libreta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Vuelca los datos a un Excel mensual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qué zonas necesitan revisión de riego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 un email al equipo de campo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0" y="1463040"/>
            <a:ext cx="3200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486400" y="1463040"/>
            <a:ext cx="73152" cy="91440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66928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D0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min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669280" y="2011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diario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0" y="2542032"/>
            <a:ext cx="3200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486400" y="2542032"/>
            <a:ext cx="73152" cy="91440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669280" y="26334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D0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5–10%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5669280" y="3090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de transcripción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0" y="3621024"/>
            <a:ext cx="3200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5486400" y="3621024"/>
            <a:ext cx="73152" cy="91440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669280" y="371246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D0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5669280" y="4169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histórica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Javier, David y Bruno · Automatización · Proyecto Nebrija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del proceso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encaja en el marco TRIGGER · INPUTS · LÓGICA · OUTPUTS · EXCEPCIONES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63040" cy="50292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103120" y="1417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lo activa?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80560" y="14173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manual desde el formulario web (botón Lanzar).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1463040" cy="50292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2057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0312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datos entran?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80560" y="20574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de Open-Meteo (sin API key) para 1..N ciudades configurables.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1463040" cy="50292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26974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03120" y="2697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transformación ocurre?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80560" y="26974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Consolidación en DataFrame + regla de prioridad de riego (Alta/Media/Baja).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1463040" cy="50292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33375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03120" y="3337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produce?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80560" y="33375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con 2 hojas (Datos_API + Resumen), archivado por fecha, y email con adjunto.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1463040" cy="50292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7200" y="39776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EXCEPCIONES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103120" y="3977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puede fallar?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0560" y="39776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caída por ciudad → se reintenta y se sigue. SMTP mal → Excel sigue disponible.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Javier, David y Bruno · Automatización · Proyecto Nebrija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flujo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Swimlanes: HUMANO · MÁQUINA · SISTEMAS EXTERNOS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371600" y="1417320"/>
            <a:ext cx="7315200" cy="777240"/>
          </a:xfrm>
          <a:prstGeom prst="rect">
            <a:avLst/>
          </a:prstGeom>
          <a:solidFill>
            <a:srgbClr val="FFF4E6"/>
          </a:solidFill>
          <a:ln w="12700">
            <a:solidFill>
              <a:srgbClr val="FFD29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17320"/>
            <a:ext cx="868680" cy="77724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41732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371600" y="2286000"/>
            <a:ext cx="7315200" cy="1325880"/>
          </a:xfrm>
          <a:prstGeom prst="rect">
            <a:avLst/>
          </a:prstGeom>
          <a:solidFill>
            <a:srgbClr val="EEF4FF"/>
          </a:solidFill>
          <a:ln w="12700">
            <a:solidFill>
              <a:srgbClr val="B8C8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2286000"/>
            <a:ext cx="868680" cy="1325880"/>
          </a:xfrm>
          <a:prstGeom prst="rect">
            <a:avLst/>
          </a:prstGeom>
          <a:solidFill>
            <a:srgbClr val="1A2C52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2286000"/>
            <a:ext cx="868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· Python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371600" y="3703320"/>
            <a:ext cx="7315200" cy="868680"/>
          </a:xfrm>
          <a:prstGeom prst="rect">
            <a:avLst/>
          </a:prstGeom>
          <a:solidFill>
            <a:srgbClr val="FDF8F1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" y="3703320"/>
            <a:ext cx="868680" cy="86868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37033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00200" y="160020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645920" y="16550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Rellena form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45920" y="191109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ciudades + SMTP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00200" y="242316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645920" y="24780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/run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45920" y="27340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input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08960" y="242316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154680" y="24780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54680" y="27340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Open-Meteo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17720" y="242316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663440" y="24780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663440" y="27340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126480" y="242316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172200" y="24780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openpyxl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72200" y="27340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Excel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17720" y="3017520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663440" y="30723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shutil + pathlib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63440" y="33284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126480" y="3017520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172200" y="30723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smtplib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72200" y="33284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email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384048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154680" y="389534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API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54680" y="41513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forecast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126480" y="384048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172200" y="389534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SMTP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172200" y="41513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/ etc.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286000" y="2103120"/>
            <a:ext cx="-45720" cy="320040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2880360" y="2697480"/>
            <a:ext cx="228600" cy="0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4389120" y="2697480"/>
            <a:ext cx="228600" cy="0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5897880" y="2697480"/>
            <a:ext cx="228600" cy="0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766560" y="2971800"/>
            <a:ext cx="-1508760" cy="45720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897880" y="3268980"/>
            <a:ext cx="228600" cy="0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3749040" y="3840480"/>
            <a:ext cx="0" cy="-868680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6766560" y="3840480"/>
            <a:ext cx="0" cy="-320040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Javier, David y Bruno · Automatización · Proyecto Nebrija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flujo, explicado en verdiblanco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componente del script es un rol del equipo. Manque pierda.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399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Pirri · La afición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D1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rellena el form, pide partido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32588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383280" y="1399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árbitro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383280" y="16459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/run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8328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pita el inicio del derbi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132588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00954C"/>
          </a:solidFill>
          <a:ln w="12700">
            <a:solidFill>
              <a:srgbClr val="00954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13990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cazadores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217920" y="164592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17920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presionan al rival, roban el balón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926080" y="1714500"/>
            <a:ext cx="365760" cy="0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760720" y="1714500"/>
            <a:ext cx="365760" cy="0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743200" y="2286000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834640" y="235915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rival · Open-Meteo API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834640" y="26060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forecast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83464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suelta el balón: los datos del tiempo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406640" y="2103120"/>
            <a:ext cx="-2377440" cy="164592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57200" y="324612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00954C"/>
          </a:solidFill>
          <a:ln w="12700">
            <a:solidFill>
              <a:srgbClr val="00954C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48640" y="33192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Joaquín · El cerebro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35661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 la jugada, decide prioridad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91840" y="324612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00954C"/>
          </a:solidFill>
          <a:ln w="12700">
            <a:solidFill>
              <a:srgbClr val="00954C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383280" y="33192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Isco · El asistente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383280" y="35661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openpyxl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83280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 el centro perfecto: el Excel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126480" y="324612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217920" y="3319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Bakambu · ¡GOOOL!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17920" y="356616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D1A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smtplib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17920" y="3794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remata: email entregado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0" y="3072384"/>
            <a:ext cx="-2880360" cy="146304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926080" y="3634740"/>
            <a:ext cx="365760" cy="0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5760720" y="3634740"/>
            <a:ext cx="365760" cy="0"/>
          </a:xfrm>
          <a:prstGeom prst="line">
            <a:avLst/>
          </a:prstGeom>
          <a:noFill/>
          <a:ln w="19050">
            <a:solidFill>
              <a:srgbClr val="FF7A1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640080" y="4251960"/>
            <a:ext cx="3657600" cy="365760"/>
          </a:xfrm>
          <a:prstGeom prst="roundRect">
            <a:avLst>
              <a:gd name="adj" fmla="val 15000"/>
            </a:avLst>
          </a:prstGeom>
          <a:solidFill>
            <a:srgbClr val="C7E8D5"/>
          </a:solidFill>
          <a:ln w="12700">
            <a:solidFill>
              <a:srgbClr val="C7E8D5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31520" y="4251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utilero</a:t>
            </a:r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i="1" dirty="0">
                <a:solidFill>
                  <a:srgbClr val="0095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pathlib + shutil</a:t>
            </a:r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</a:t>
            </a:r>
            <a:pPr algn="ctr" indent="0" marL="0">
              <a:buNone/>
            </a:pPr>
            <a:r>
              <a:rPr lang="en-US" sz="1000" i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 el balón por fecha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846320" y="4251960"/>
            <a:ext cx="3657600" cy="365760"/>
          </a:xfrm>
          <a:prstGeom prst="roundRect">
            <a:avLst>
              <a:gd name="adj" fmla="val 15000"/>
            </a:avLst>
          </a:prstGeom>
          <a:solidFill>
            <a:srgbClr val="C7E8D5"/>
          </a:solidFill>
          <a:ln w="12700">
            <a:solidFill>
              <a:srgbClr val="C7E8D5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937760" y="4251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VAR</a:t>
            </a:r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i="1" dirty="0">
                <a:solidFill>
                  <a:srgbClr val="0095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/ except</a:t>
            </a:r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</a:t>
            </a:r>
            <a:pPr algn="ctr" indent="0" marL="0">
              <a:buNone/>
            </a:pPr>
            <a:r>
              <a:rPr lang="en-US" sz="1000" i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uno se lesiona, el resto sigue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Javier, David y Bruno · Automatización · Proyecto Nebrija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librerías Python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librería del temario para cada paso del proceso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17320"/>
            <a:ext cx="2651760" cy="73152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18488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618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43000" y="18928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5D0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21792" y="21945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con reintentos a Open-Meteo. Sesión persistente.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14173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246120" y="1417320"/>
            <a:ext cx="2651760" cy="73152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618488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31920" y="1618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DataFrame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931920" y="18928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5D0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410712" y="21945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Consolidación, agrupación y aplicación de reglas.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35040" y="14173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035040" y="1417320"/>
            <a:ext cx="2651760" cy="73152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618488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20840" y="1618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Excel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720840" y="18928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5D0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openpyxl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199632" y="21945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Escritura del informe en dos hojas con formato.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044952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457200" y="3044952"/>
            <a:ext cx="2651760" cy="73152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246120"/>
            <a:ext cx="411480" cy="4114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14300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Ficheros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1143000" y="35204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5D0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pathlib · shutil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21792" y="382219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Renombrado por run_id y archivado por fecha.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246120" y="3044952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29" name="Shape 23"/>
          <p:cNvSpPr/>
          <p:nvPr/>
        </p:nvSpPr>
        <p:spPr>
          <a:xfrm>
            <a:off x="3246120" y="3044952"/>
            <a:ext cx="2651760" cy="73152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246120"/>
            <a:ext cx="411480" cy="41148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93192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Email</a:t>
            </a:r>
            <a:endParaRPr lang="en-US" sz="1400" dirty="0"/>
          </a:p>
        </p:txBody>
      </p:sp>
      <p:sp>
        <p:nvSpPr>
          <p:cNvPr id="32" name="Text 25"/>
          <p:cNvSpPr/>
          <p:nvPr/>
        </p:nvSpPr>
        <p:spPr>
          <a:xfrm>
            <a:off x="3931920" y="35204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5D0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smtplib + email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3410712" y="382219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STARTTLS, login y envío con adjunto.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035040" y="3044952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35" name="Shape 28"/>
          <p:cNvSpPr/>
          <p:nvPr/>
        </p:nvSpPr>
        <p:spPr>
          <a:xfrm>
            <a:off x="6035040" y="3044952"/>
            <a:ext cx="2651760" cy="73152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9632" y="3246120"/>
            <a:ext cx="411480" cy="41148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67208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</a:t>
            </a:r>
            <a:endParaRPr lang="en-US" sz="1400" dirty="0"/>
          </a:p>
        </p:txBody>
      </p:sp>
      <p:sp>
        <p:nvSpPr>
          <p:cNvPr id="38" name="Text 30"/>
          <p:cNvSpPr/>
          <p:nvPr/>
        </p:nvSpPr>
        <p:spPr>
          <a:xfrm>
            <a:off x="6720840" y="35204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5D0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uvicorn</a:t>
            </a:r>
            <a:endParaRPr lang="en-US" sz="1000" dirty="0"/>
          </a:p>
        </p:txBody>
      </p:sp>
      <p:sp>
        <p:nvSpPr>
          <p:cNvPr id="39" name="Text 31"/>
          <p:cNvSpPr/>
          <p:nvPr/>
        </p:nvSpPr>
        <p:spPr>
          <a:xfrm>
            <a:off x="6199632" y="382219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formulario + endpoint /run.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Javier, David y Bruno · Automatización · Proyecto Nebrija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negocio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pura, separada del I/O — fácil de testear y modificar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937760" cy="3017520"/>
          </a:xfrm>
          <a:prstGeom prst="rect">
            <a:avLst/>
          </a:prstGeom>
          <a:solidFill>
            <a:srgbClr val="1A2C52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D2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weather_job.py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7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classify_day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(temp_max, rain):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FF7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temp_max &gt;= 30 </a:t>
            </a:r>
            <a:pPr indent="0" marL="0">
              <a:buNone/>
            </a:pPr>
            <a:r>
              <a:rPr lang="en-US" sz="1100" dirty="0">
                <a:solidFill>
                  <a:srgbClr val="FF7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rain &lt; 2: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FF7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FFD2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"Alta", "...riego"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FF7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rain &gt;= 5: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FF7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FFD2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"Media", "...drenaje"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FF7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FFD2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"Baja", "...estrategia"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54480"/>
          <a:ext cx="32004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máx ≥ 30°C y lluvia &lt; 2mm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Lluvia ≥ 5mm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5D0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D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57784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4A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Función pura → testeable sin red, sin Excel, sin SMTP.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Javier, David y Bruno · Automatización · Proyecto Nebrija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un botón, un proceso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sirve un formulario web con tema naranja/azul (cielo &amp; sol)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78638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417320"/>
            <a:ext cx="7863840" cy="274320"/>
          </a:xfrm>
          <a:prstGeom prst="rect">
            <a:avLst/>
          </a:prstGeom>
          <a:solidFill>
            <a:srgbClr val="1A2C52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65760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C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127.0.0.1:8000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Informe automático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21488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5D0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clima &amp; riego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2606040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1A2C52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87552" y="2697480"/>
            <a:ext cx="146304" cy="146304"/>
          </a:xfrm>
          <a:prstGeom prst="ellipse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170432" y="26060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03120" y="2606040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1A2C52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176272" y="2697480"/>
            <a:ext cx="146304" cy="146304"/>
          </a:xfrm>
          <a:prstGeom prst="ellipse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359152" y="26060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Barcelona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91840" y="2606040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1A2C52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364992" y="2697480"/>
            <a:ext cx="146304" cy="146304"/>
          </a:xfrm>
          <a:prstGeom prst="ellipse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547872" y="26060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Valencia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14400" y="3017520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1A2C52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87552" y="3108960"/>
            <a:ext cx="146304" cy="146304"/>
          </a:xfrm>
          <a:prstGeom prst="ellipse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170432" y="30175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Sevilla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103120" y="3017520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1A2C52"/>
          </a:solidFill>
          <a:ln w="12700">
            <a:solidFill>
              <a:srgbClr val="1A2C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2176272" y="3108960"/>
            <a:ext cx="146304" cy="146304"/>
          </a:xfrm>
          <a:prstGeom prst="ellipse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359152" y="30175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Bilbao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91840" y="3017520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FDF8F1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364992" y="31089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547872" y="30175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Palencia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0" y="3931920"/>
            <a:ext cx="2103120" cy="502920"/>
          </a:xfrm>
          <a:prstGeom prst="roundRect">
            <a:avLst>
              <a:gd name="adj" fmla="val 49091"/>
            </a:avLst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029200" y="3931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Lanzar informe  →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035040" y="1828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del front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035040" y="21031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 backend)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+ CSS3 + JS vanilla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Fraunces + Geist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naranja + azul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Javier, David y Bruno · Automatización · Proyecto Nebrija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u="none">
                <a:solidFill>
                  <a:srgbClr val="1A2C52"/>
                </a:solidFill>
                <a:latin typeface="Calibri"/>
              </a:rPr>
              <a:t>Cómo usar la app — guía paso a paso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u="none">
                <a:solidFill>
                  <a:srgbClr val="475569"/>
                </a:solidFill>
                <a:latin typeface="Calibri"/>
              </a:rPr>
              <a:t>Sigue estos pasos en orden · los enlaces en naranja son clicables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57200" cy="457200"/>
          </a:xfrm>
          <a:prstGeom prst="roundRect">
            <a:avLst/>
          </a:prstGeom>
          <a:solidFill>
            <a:srgbClr val="FF7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u="none">
                <a:solidFill>
                  <a:srgbClr val="1A2C52"/>
                </a:solidFill>
                <a:latin typeface="Calibri"/>
              </a:rPr>
              <a:t>Instala Python y lanza la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417320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0" u="none">
                <a:solidFill>
                  <a:srgbClr val="0D1A36"/>
                </a:solidFill>
                <a:latin typeface="Calibri"/>
              </a:rPr>
              <a:t>Descarga Python en </a:t>
            </a:r>
            <a:r>
              <a:rPr sz="1050" b="0" u="sng">
                <a:solidFill>
                  <a:srgbClr val="C04A00"/>
                </a:solidFill>
                <a:latin typeface="Calibri"/>
                <a:hlinkClick r:id="rId2"/>
              </a:rPr>
              <a:t>python.org/downloads</a:t>
            </a:r>
            <a:r>
              <a:rPr sz="1050" b="0" u="none">
                <a:solidFill>
                  <a:srgbClr val="0D1A36"/>
                </a:solidFill>
                <a:latin typeface="Calibri"/>
              </a:rPr>
              <a:t> · luego: pip install -r requirements.txt  y  python app.py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79676"/>
            <a:ext cx="457200" cy="457200"/>
          </a:xfrm>
          <a:prstGeom prst="roundRect">
            <a:avLst/>
          </a:prstGeom>
          <a:solidFill>
            <a:srgbClr val="FF7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979676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u="none">
                <a:solidFill>
                  <a:srgbClr val="1A2C52"/>
                </a:solidFill>
                <a:latin typeface="Calibri"/>
              </a:rPr>
              <a:t>Abre la app en el navegador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979676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0" u="none">
                <a:solidFill>
                  <a:srgbClr val="0D1A36"/>
                </a:solidFill>
                <a:latin typeface="Calibri"/>
              </a:rPr>
              <a:t>Entra en </a:t>
            </a:r>
            <a:r>
              <a:rPr sz="1050" b="0" u="sng">
                <a:solidFill>
                  <a:srgbClr val="C04A00"/>
                </a:solidFill>
                <a:latin typeface="Calibri"/>
                <a:hlinkClick r:id="rId3"/>
              </a:rPr>
              <a:t>http://127.0.0.1:8000</a:t>
            </a:r>
            <a:r>
              <a:rPr sz="1050" b="0" u="none">
                <a:solidFill>
                  <a:srgbClr val="0D1A36"/>
                </a:solidFill>
                <a:latin typeface="Calibri"/>
              </a:rPr>
              <a:t>  (se abre el formulario web)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42032"/>
            <a:ext cx="457200" cy="457200"/>
          </a:xfrm>
          <a:prstGeom prst="roundRect">
            <a:avLst/>
          </a:prstGeom>
          <a:solidFill>
            <a:srgbClr val="FF7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4203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u="none">
                <a:solidFill>
                  <a:srgbClr val="1A2C52"/>
                </a:solidFill>
                <a:latin typeface="Calibri"/>
              </a:rPr>
              <a:t>Selecciona ciudades y días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42032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0" u="none">
                <a:solidFill>
                  <a:srgbClr val="0D1A36"/>
                </a:solidFill>
                <a:latin typeface="Calibri"/>
              </a:rPr>
              <a:t>Marca las ciudades a consultar y elige el horizonte de previsión (1–16 días).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04388"/>
            <a:ext cx="457200" cy="457200"/>
          </a:xfrm>
          <a:prstGeom prst="roundRect">
            <a:avLst/>
          </a:prstGeom>
          <a:solidFill>
            <a:srgbClr val="FF7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04388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u="none">
                <a:solidFill>
                  <a:srgbClr val="1A2C52"/>
                </a:solidFill>
                <a:latin typeface="Calibri"/>
              </a:rPr>
              <a:t>Entra en Google y crea una App Password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104388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0" u="none">
                <a:solidFill>
                  <a:srgbClr val="0D1A36"/>
                </a:solidFill>
                <a:latin typeface="Calibri"/>
              </a:rPr>
              <a:t>Ve a </a:t>
            </a:r>
            <a:r>
              <a:rPr sz="1050" b="0" u="sng">
                <a:solidFill>
                  <a:srgbClr val="C04A00"/>
                </a:solidFill>
                <a:latin typeface="Calibri"/>
                <a:hlinkClick r:id="rId4"/>
              </a:rPr>
              <a:t>myaccount.google.com/apppasswords</a:t>
            </a:r>
            <a:r>
              <a:rPr sz="1050" b="0" u="none">
                <a:solidFill>
                  <a:srgbClr val="0D1A36"/>
                </a:solidFill>
                <a:latin typeface="Calibri"/>
              </a:rPr>
              <a:t> y genera la clave de 16 dígitos (Gmail no admite tu contraseña normal).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66744"/>
            <a:ext cx="457200" cy="457200"/>
          </a:xfrm>
          <a:prstGeom prst="roundRect">
            <a:avLst/>
          </a:prstGeom>
          <a:solidFill>
            <a:srgbClr val="FF7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666744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u="none">
                <a:solidFill>
                  <a:srgbClr val="1A2C52"/>
                </a:solidFill>
                <a:latin typeface="Calibri"/>
              </a:rPr>
              <a:t>Configura el envío por email (opcional)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666744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0" u="none">
                <a:solidFill>
                  <a:srgbClr val="0D1A36"/>
                </a:solidFill>
                <a:latin typeface="Calibri"/>
              </a:rPr>
              <a:t>smtp.gmail.com · puerto 587 · tu email · la App Password · el destinatario.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29100"/>
            <a:ext cx="457200" cy="457200"/>
          </a:xfrm>
          <a:prstGeom prst="roundRect">
            <a:avLst/>
          </a:prstGeom>
          <a:solidFill>
            <a:srgbClr val="FF7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u="none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22910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u="none">
                <a:solidFill>
                  <a:srgbClr val="1A2C52"/>
                </a:solidFill>
                <a:latin typeface="Calibri"/>
              </a:rPr>
              <a:t>Pulsa «Lanzar informe»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229100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0" u="none">
                <a:solidFill>
                  <a:srgbClr val="0D1A36"/>
                </a:solidFill>
                <a:latin typeface="Calibri"/>
              </a:rPr>
              <a:t>Se genera el Excel, se descarga en pantalla y llega por email si configuraste SMTP.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u="none">
                <a:solidFill>
                  <a:srgbClr val="475569"/>
                </a:solidFill>
                <a:latin typeface="Calibri"/>
              </a:rPr>
              <a:t>Javier, David y Bruno · Automatización · Proyecto Nebrija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u="none">
                <a:solidFill>
                  <a:srgbClr val="47556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vs. automatizado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tiempo de ejecución y otros indicadores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463040"/>
            <a:ext cx="2834640" cy="914400"/>
          </a:xfrm>
          <a:prstGeom prst="rect">
            <a:avLst/>
          </a:prstGeom>
          <a:solidFill>
            <a:srgbClr val="EEF4FF"/>
          </a:solidFill>
          <a:ln w="12700">
            <a:solidFill>
              <a:srgbClr val="B8C8E8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852160" y="1463040"/>
            <a:ext cx="73152" cy="91440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035040" y="1508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80×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406640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rápido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 → 15 seg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52160" y="2542032"/>
            <a:ext cx="2834640" cy="914400"/>
          </a:xfrm>
          <a:prstGeom prst="rect">
            <a:avLst/>
          </a:prstGeom>
          <a:solidFill>
            <a:srgbClr val="EEF4FF"/>
          </a:solidFill>
          <a:ln w="12700">
            <a:solidFill>
              <a:srgbClr val="B8C8E8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852160" y="2542032"/>
            <a:ext cx="73152" cy="91440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035040" y="25877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406640" y="2679192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error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5–10% manual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852160" y="3621024"/>
            <a:ext cx="2834640" cy="914400"/>
          </a:xfrm>
          <a:prstGeom prst="rect">
            <a:avLst/>
          </a:prstGeom>
          <a:solidFill>
            <a:srgbClr val="EEF4FF"/>
          </a:solidFill>
          <a:ln w="12700">
            <a:solidFill>
              <a:srgbClr val="B8C8E8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5852160" y="3621024"/>
            <a:ext cx="73152" cy="91440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035040" y="366674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06640" y="3758184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ciudades cubiertas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coste extra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Javier, David y Bruno · Automatización · Proyecto Nebrija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 y portabilidad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Pensado para correr en el ordenador del profesor sin tocar código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DF8F1"/>
          </a:solidFill>
          <a:ln w="12700">
            <a:solidFill>
              <a:srgbClr val="ECDFCC"/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Manejo de excepciones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196596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Reintentos automáticos (3) con backoff exponencial en cada llamada a la API.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una ciudad falla, el resto continúa. Se reporta el fallo en el resultado.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SMTP falla o no está configurado, el Excel sigue disponible para descarga.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con timestamps en cada paso del proceso.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FF4E6"/>
          </a:solidFill>
          <a:ln w="12700">
            <a:solidFill>
              <a:srgbClr val="FFD29C"/>
            </a:solidFill>
            <a:prstDash val="solid"/>
          </a:ln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55448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57800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Portabilidad total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846320" y="196596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multiplataforma (Windows / macOS / Linux).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API keys: Open-Meteo es gratuito y abierto.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100% por formulario — no hay .env que editar.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D1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pip install -r requirements.txt + python app.py.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Javier, David y Bruno · Automatización · Proyecto Nebrija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C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657600"/>
            <a:ext cx="2743200" cy="2743200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365760" y="4389120"/>
            <a:ext cx="1280160" cy="1280160"/>
          </a:xfrm>
          <a:prstGeom prst="ellipse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14400" y="10058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20 minutos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FF7A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15 segundos.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aprendí: la IA escribe el código, pero el valor está en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B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el proceso, dibujarlo y elegir las librerías correctas.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4023360"/>
            <a:ext cx="54864" cy="548640"/>
          </a:xfrm>
          <a:prstGeom prst="rect">
            <a:avLst/>
          </a:prstGeom>
          <a:solidFill>
            <a:srgbClr val="FF7A18"/>
          </a:solidFill>
          <a:ln w="12700">
            <a:solidFill>
              <a:srgbClr val="FF7A1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97280" y="4023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Gracias.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B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github.com/hibrusi-dev · Bruno · Nebrija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automático de clima — Automatización</dc:title>
  <dc:subject>PptxGenJS Presentation</dc:subject>
  <dc:creator>Bruno</dc:creator>
  <cp:lastModifiedBy>Bruno</cp:lastModifiedBy>
  <cp:revision>1</cp:revision>
  <dcterms:created xsi:type="dcterms:W3CDTF">2026-05-27T17:08:58Z</dcterms:created>
  <dcterms:modified xsi:type="dcterms:W3CDTF">2026-05-27T17:08:58Z</dcterms:modified>
</cp:coreProperties>
</file>